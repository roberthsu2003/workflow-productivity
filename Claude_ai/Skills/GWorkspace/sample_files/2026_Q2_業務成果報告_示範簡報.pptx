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2026 Q2 業務成果與策略報告</a:t>
            </a:r>
          </a:p>
          <a:p>
            <a:pPr>
              <a:defRPr sz="2200">
                <a:solidFill>
                  <a:srgbClr val="CADCFC"/>
                </a:solidFill>
              </a:defRPr>
            </a:pPr>
            <a:r>
              <a:t>業務部 · 季度策略成果覆盤與下半年目標展望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本期業務核心成果 (Key Achievements)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Q2 業績達成率達 94%，較原定激勵目標超額完成 4%。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新客戶拓展結算：全季成功簽訂 5 家指標型企業，集中於北部高科技製造業。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營收增長貢獻：微電網網關 BridgeGrid-X 佔全季總銷售比重達 42%，為核心成長引擎。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客戶滿意度（CSAT）：平均維持在 4.3 / 5.0，售後維護回應時效縮短 25%。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市場洞察與重點發現 (Key Insights)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北部科技產業對「綠能減碳與用電監控」具備剛性採購預算，成交通期平均僅 21 天。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中南部工業區詢價量成長 65%，但因缺乏在地經銷服務站，成交轉化率落後北部 18%。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客戶對跨系統整合需求強烈：超過 80% 企業希望將設備數據直連 Google Workspace 或 ERP。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價格敏感度觀察：中小型製造業更偏好訂閱制方案，有助於降低初期資本支出門檻。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下半年業務策略布局 (Strategic 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雙軌推進方針：持續深耕北部既有大客 (Upselling)，同時全面開拓中南部經銷合作通道。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成立在地經銷扶植專案：預計於台中與高雄各授權 2 家認證 SI 整合商。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強化解決方案包裝：推出「硬體網關 + 雲端自動通報 + 報表自動匯出」統包方案。</a:t>
            </a:r>
          </a:p>
          <a:p>
            <a:pPr>
              <a:spcAft>
                <a:spcPts val="1800"/>
              </a:spcAft>
              <a:defRPr sz="2000">
                <a:solidFill>
                  <a:srgbClr val="212529"/>
                </a:solidFill>
              </a:defRPr>
            </a:pPr>
            <a:r>
              <a:t>• 縮短產品導入週期：建立標準化 POC 測試箱，將場域驗證時程從 4 週壓縮至 10 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結語與 Q3 營運成長目標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2200">
                <a:solidFill>
                  <a:srgbClr val="CADCFC"/>
                </a:solidFill>
              </a:defRPr>
            </a:pPr>
            <a:r>
              <a:t>✔ Q3 業績增長目標：設定季增 15%（Target: NT$ 3,800 萬）。</a:t>
            </a:r>
          </a:p>
          <a:p>
            <a:pPr>
              <a:spcAft>
                <a:spcPts val="1600"/>
              </a:spcAft>
              <a:defRPr sz="2200">
                <a:solidFill>
                  <a:srgbClr val="CADCFC"/>
                </a:solidFill>
              </a:defRPr>
            </a:pPr>
            <a:r>
              <a:t>✔ 經銷商簽約指標：完成中南部 4 家旗艦經銷商簽約與工程培訓認證。</a:t>
            </a:r>
          </a:p>
          <a:p>
            <a:pPr>
              <a:spcAft>
                <a:spcPts val="1600"/>
              </a:spcAft>
              <a:defRPr sz="2200">
                <a:solidFill>
                  <a:srgbClr val="CADCFC"/>
                </a:solidFill>
              </a:defRPr>
            </a:pPr>
            <a:r>
              <a:t>✔ 客戶留存與續約率：既有合約客戶續約率維持 95% 以上。</a:t>
            </a:r>
          </a:p>
          <a:p>
            <a:pPr>
              <a:spcAft>
                <a:spcPts val="1600"/>
              </a:spcAft>
              <a:defRPr sz="2200">
                <a:solidFill>
                  <a:srgbClr val="CADCFC"/>
                </a:solidFill>
              </a:defRPr>
            </a:pPr>
            <a:r>
              <a:t>✔ 團隊共識：以跨系統自動化與敏捷響應，共同達成年度高標挑戰！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