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132"/>
          </a:solidFill>
          <a:ln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大型陸域與離岸風電技術評估</a:t>
            </a:r>
            <a:br/>
            <a:r>
              <a:t>與智慧運維產學合作提案</a:t>
            </a:r>
          </a:p>
          <a:p>
            <a:br/>
            <a:pPr>
              <a:defRPr sz="1800">
                <a:solidFill>
                  <a:srgbClr val="D1E7DC"/>
                </a:solidFill>
              </a:defRPr>
            </a:pPr>
            <a:r>
              <a:t>工研院綠能與環境研究所 ✕ 頂尖大學工學院產學聯合研發計畫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ITRI GEL WIND POWER INITIATIVE</a:t>
            </a:r>
          </a:p>
          <a:p>
            <a:pPr>
              <a:defRPr sz="2400" b="1">
                <a:solidFill>
                  <a:srgbClr val="212529"/>
                </a:solidFill>
              </a:defRPr>
            </a:pPr>
            <a:r>
              <a:t>產業背景與極端天候挑戰：台灣海峽巨型風機運維難題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D1E7DC"/>
          </a:solidFill>
          <a:ln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5132"/>
                </a:solidFill>
              </a:defRPr>
            </a:pPr>
            <a:r>
              <a:t>01. 風機巨型化趨勢 (15MW+)</a:t>
            </a:r>
          </a:p>
          <a:p>
            <a:br/>
            <a:pPr>
              <a:defRPr sz="1300">
                <a:solidFill>
                  <a:srgbClr val="212529"/>
                </a:solidFill>
              </a:defRPr>
            </a:pPr>
            <a:r>
              <a:t>離岸風電朝單機 15MW 以上發展，葉片長度逾 115 公尺，氣動彈性效應與重力疲勞負荷劇增。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5132"/>
                </a:solidFill>
              </a:defRPr>
            </a:pPr>
            <a:r>
              <a:t>02. 複合極端氣候挑戰</a:t>
            </a:r>
          </a:p>
          <a:p>
            <a:br/>
            <a:pPr>
              <a:defRPr sz="1300">
                <a:solidFill>
                  <a:srgbClr val="212529"/>
                </a:solidFill>
              </a:defRPr>
            </a:pPr>
            <a:r>
              <a:t>台灣海峽面臨夏季超強颱風（風速 &gt; 70m/s）、冬季強烈東北季風、強震與海床液化多重威脅。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D1E7DC"/>
          </a:solidFill>
          <a:ln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5132"/>
                </a:solidFill>
              </a:defRPr>
            </a:pPr>
            <a:r>
              <a:t>03. 高昂出海運維成本</a:t>
            </a:r>
          </a:p>
          <a:p>
            <a:br/>
            <a:pPr>
              <a:defRPr sz="1300">
                <a:solidFill>
                  <a:srgbClr val="212529"/>
                </a:solidFill>
              </a:defRPr>
            </a:pPr>
            <a:r>
              <a:t>海上出勤天候窗口狹窄（每年僅 4-9 月適合），單次工作船出動費用數百萬，迫切需要遠端智慧預警。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ITRI GEL WIND POWER INITIATIVE</a:t>
            </a:r>
          </a:p>
          <a:p>
            <a:pPr>
              <a:defRPr sz="2400" b="1">
                <a:solidFill>
                  <a:srgbClr val="212529"/>
                </a:solidFill>
              </a:defRPr>
            </a:pPr>
            <a:r>
              <a:t>大型陸域 vs 離岸風力發電技術矩陣與比較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F5132"/>
                </a:solidFill>
              </a:defRPr>
            </a:pPr>
            <a:r>
              <a:t>1. 陸域大型風機 (4~6 MW)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特點：基礎建設施工便捷、併網路徑短</a:t>
            </a:r>
            <a:br/>
            <a:r>
              <a:t>• 核心挑戰：受限地形遮蔽與噪音法規、抗颱減震設計</a:t>
            </a:r>
            <a:br/>
            <a:r>
              <a:t>• 綠能所角色：葉片低頻噪音抑制、微氣候風資源精準預測</a:t>
            </a:r>
            <a:br/>
          </a:p>
          <a:p>
            <a:pPr>
              <a:defRPr sz="1500" b="1">
                <a:solidFill>
                  <a:srgbClr val="0F5132"/>
                </a:solidFill>
              </a:defRPr>
            </a:pPr>
            <a:r>
              <a:t>2. 離岸大型風機 (14~16 MW 標竿)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特點：海上風能充沛穩定、無遮蔽物、年發電時數突破 4,000 小時</a:t>
            </a:r>
            <a:br/>
            <a:r>
              <a:t>• 核心挑戰：深水區水下套管式/浮動式基礎防腐抗剪、海纜高壓直流 (HVDC) 傳輸</a:t>
            </a:r>
            <a:br/>
            <a:r>
              <a:t>• 綠能所角色：IEC 61400-1 Class T 抗颱安全驗證、地質共振動態監測</a:t>
            </a:r>
            <a:br/>
          </a:p>
          <a:p>
            <a:pPr>
              <a:defRPr sz="1500" b="1">
                <a:solidFill>
                  <a:srgbClr val="0F5132"/>
                </a:solidFill>
              </a:defRPr>
            </a:pPr>
            <a:r>
              <a:t>3. 跨領域共用技術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SCADA 數據串流、智慧變流器（Smart Inverter）虛擬同步機（VSM）支撐電網穩定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ITRI GEL WIND POWER INITIATIVE</a:t>
            </a:r>
          </a:p>
          <a:p>
            <a:pPr>
              <a:defRPr sz="2400" b="1">
                <a:solidFill>
                  <a:srgbClr val="212529"/>
                </a:solidFill>
              </a:defRPr>
            </a:pPr>
            <a:r>
              <a:t>解決方案：基於數位分身（Digital Twin）與無人機之智慧運維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5132"/>
                </a:solidFill>
              </a:defRPr>
            </a:pPr>
            <a:r>
              <a:t>【核心研發模組】</a:t>
            </a:r>
          </a:p>
          <a:p>
            <a:pPr>
              <a:defRPr b="1" sz="1400">
                <a:solidFill>
                  <a:srgbClr val="212529"/>
                </a:solidFill>
              </a:defRPr>
            </a:pPr>
            <a:r>
              <a:t>模組 A：自動化無人機 (UAV) 毫米級葉片裂紋巡檢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利用自主航路無人機，於風機停機 15 分鐘內完成 360 度 4K 影像採集，AI 自動偵測 0.2mm 微裂紋與前緣侵蝕。</a:t>
            </a:r>
            <a:br/>
          </a:p>
          <a:p>
            <a:pPr>
              <a:defRPr b="1" sz="1400">
                <a:solidFill>
                  <a:srgbClr val="212529"/>
                </a:solidFill>
              </a:defRPr>
            </a:pPr>
            <a:r>
              <a:t>模組 B：齒輪箱與發電機軸承振動早期預警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部署高頻加速度計與溫度感測器，結合綠能所故障特徵頻率庫，提前 45 天預警齒輪崩裂與潤滑失效。</a:t>
            </a:r>
            <a:br/>
          </a:p>
          <a:p>
            <a:pPr>
              <a:defRPr b="1" sz="1400">
                <a:solidFill>
                  <a:srgbClr val="212529"/>
                </a:solidFill>
              </a:defRPr>
            </a:pPr>
            <a:r>
              <a:t>模組 C：全風場數位分身 (Digital Twin) 負載動態模擬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即時串聯 SCADA 與氣象雷達，模擬波浪與極限陣風對水下基礎的累計疲勞損耗，動態調配風機偏航角。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ITRI GEL WIND POWER INITIATIVE</a:t>
            </a:r>
          </a:p>
          <a:p>
            <a:pPr>
              <a:defRPr sz="2400" b="1">
                <a:solidFill>
                  <a:srgbClr val="212529"/>
                </a:solidFill>
              </a:defRPr>
            </a:pPr>
            <a:r>
              <a:t>預期研發效益、時程規劃與產學合作價值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5132"/>
                </a:solidFill>
              </a:defRPr>
            </a:pPr>
            <a:r>
              <a:t>關鍵量化績效指標 (KPIs)：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運維成本降低：非計畫性海上停機時間減少 35%，每年單一風場節省運維開支逾 1,200 萬元。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風機可用率提升：整體風機可動率 (Availability) 自 94.0% 提升至 97.2% 以上。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人才培育與技術自主：培育 10+ 位具備離岸海事工程與大數據預警技能之本土高階研發人才。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產學智財產出：共同申請 2 件國際發明專利（抗颱氣動減振、軸承智慧診斷演算法）。</a:t>
            </a:r>
          </a:p>
          <a:p>
            <a:br/>
            <a:pPr>
              <a:defRPr b="1" sz="1400">
                <a:solidFill>
                  <a:srgbClr val="0F5132"/>
                </a:solidFill>
              </a:defRPr>
            </a:pPr>
            <a:r>
              <a:t>結論：結合工研院綠能所之國家級試驗資源與學界研發動能，共同打造亞太離岸與大型風電自主研發標竿！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