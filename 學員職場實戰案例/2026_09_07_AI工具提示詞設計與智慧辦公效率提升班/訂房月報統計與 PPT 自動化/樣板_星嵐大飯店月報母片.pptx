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訂房間數 (間)</c:v>
                </c:pt>
              </c:strCache>
            </c:strRef>
          </c:tx>
          <c:cat>
            <c:strRef>
              <c:f>Sheet1!$A$2:$A$9</c:f>
              <c:strCache>
                <c:ptCount val="8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256</c:v>
                </c:pt>
                <c:pt idx="1">
                  <c:v>184</c:v>
                </c:pt>
                <c:pt idx="2">
                  <c:v>212</c:v>
                </c:pt>
                <c:pt idx="3">
                  <c:v>144</c:v>
                </c:pt>
                <c:pt idx="4">
                  <c:v>127</c:v>
                </c:pt>
                <c:pt idx="5">
                  <c:v>121</c:v>
                </c:pt>
                <c:pt idx="6">
                  <c:v>240</c:v>
                </c:pt>
                <c:pt idx="7">
                  <c:v>278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營業收入 (萬元)</c:v>
                </c:pt>
              </c:strCache>
            </c:strRef>
          </c:tx>
          <c:cat>
            <c:strRef>
              <c:f>Sheet1!$A$2:$A$9</c:f>
              <c:strCache>
                <c:ptCount val="8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150</c:v>
                </c:pt>
                <c:pt idx="1">
                  <c:v>91</c:v>
                </c:pt>
                <c:pt idx="2">
                  <c:v>125</c:v>
                </c:pt>
                <c:pt idx="3">
                  <c:v>85</c:v>
                </c:pt>
                <c:pt idx="4">
                  <c:v>75</c:v>
                </c:pt>
                <c:pt idx="5">
                  <c:v>70</c:v>
                </c:pt>
                <c:pt idx="6">
                  <c:v>140</c:v>
                </c:pt>
                <c:pt idx="7">
                  <c:v>163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legend>
      <c:legendPos val="t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2025年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訂房間數 (間)</c:v>
                </c:pt>
                <c:pt idx="1">
                  <c:v>營業收入 (萬元)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1038</c:v>
                </c:pt>
                <c:pt idx="1">
                  <c:v>568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2026年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訂房間數 (間)</c:v>
                </c:pt>
                <c:pt idx="1">
                  <c:v>營業收入 (萬元)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1562</c:v>
                </c:pt>
                <c:pt idx="1">
                  <c:v>890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t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2026 目標 ADR</c:v>
                </c:pt>
              </c:strCache>
            </c:strRef>
          </c:tx>
          <c:cat>
            <c:strRef>
              <c:f>Sheet1!$A$2:$A$9</c:f>
              <c:strCache>
                <c:ptCount val="8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5395</c:v>
                </c:pt>
                <c:pt idx="1">
                  <c:v>5235</c:v>
                </c:pt>
                <c:pt idx="2">
                  <c:v>5153</c:v>
                </c:pt>
                <c:pt idx="3">
                  <c:v>5809</c:v>
                </c:pt>
                <c:pt idx="4">
                  <c:v>5222</c:v>
                </c:pt>
                <c:pt idx="5">
                  <c:v>5192</c:v>
                </c:pt>
                <c:pt idx="6">
                  <c:v>5383</c:v>
                </c:pt>
                <c:pt idx="7">
                  <c:v>5384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2026 Actual ADR</c:v>
                </c:pt>
              </c:strCache>
            </c:strRef>
          </c:tx>
          <c:cat>
            <c:strRef>
              <c:f>Sheet1!$A$2:$A$9</c:f>
              <c:strCache>
                <c:ptCount val="8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5862</c:v>
                </c:pt>
                <c:pt idx="1">
                  <c:v>4954</c:v>
                </c:pt>
                <c:pt idx="2">
                  <c:v>5890</c:v>
                </c:pt>
                <c:pt idx="3">
                  <c:v>5901</c:v>
                </c:pt>
                <c:pt idx="4">
                  <c:v>5894</c:v>
                </c:pt>
                <c:pt idx="5">
                  <c:v>5780</c:v>
                </c:pt>
                <c:pt idx="6">
                  <c:v>5845</c:v>
                </c:pt>
                <c:pt idx="7">
                  <c:v>5860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t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2025 Actual ADR</c:v>
                </c:pt>
              </c:strCache>
            </c:strRef>
          </c:tx>
          <c:cat>
            <c:strRef>
              <c:f>Sheet1!$A$2:$A$9</c:f>
              <c:strCache>
                <c:ptCount val="8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5388</c:v>
                </c:pt>
                <c:pt idx="1">
                  <c:v>4930</c:v>
                </c:pt>
                <c:pt idx="2">
                  <c:v>6428</c:v>
                </c:pt>
                <c:pt idx="3">
                  <c:v>4970</c:v>
                </c:pt>
                <c:pt idx="4">
                  <c:v>4710</c:v>
                </c:pt>
                <c:pt idx="5">
                  <c:v>6273</c:v>
                </c:pt>
                <c:pt idx="6">
                  <c:v>5472</c:v>
                </c:pt>
                <c:pt idx="7">
                  <c:v>5395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2026 Actual ADR</c:v>
                </c:pt>
              </c:strCache>
            </c:strRef>
          </c:tx>
          <c:cat>
            <c:strRef>
              <c:f>Sheet1!$A$2:$A$9</c:f>
              <c:strCache>
                <c:ptCount val="8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5862</c:v>
                </c:pt>
                <c:pt idx="1">
                  <c:v>4954</c:v>
                </c:pt>
                <c:pt idx="2">
                  <c:v>5890</c:v>
                </c:pt>
                <c:pt idx="3">
                  <c:v>5901</c:v>
                </c:pt>
                <c:pt idx="4">
                  <c:v>5894</c:v>
                </c:pt>
                <c:pt idx="5">
                  <c:v>5780</c:v>
                </c:pt>
                <c:pt idx="6">
                  <c:v>5845</c:v>
                </c:pt>
                <c:pt idx="7">
                  <c:v>5860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t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Relationship Id="rId3" Type="http://schemas.openxmlformats.org/officeDocument/2006/relationships/chart" Target="../charts/chart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2545"/>
          </a:solidFill>
          <a:ln>
            <a:solidFill>
              <a:srgbClr val="0B2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C5A880"/>
                </a:solidFill>
                <a:latin typeface="Arial"/>
              </a:defRPr>
            </a:pPr>
            <a:r>
              <a:t>STARSHORE HOTEL</a:t>
            </a:r>
          </a:p>
          <a:p>
            <a:pPr>
              <a:defRPr sz="1300" b="1">
                <a:solidFill>
                  <a:srgbClr val="FFFFFF"/>
                </a:solidFill>
                <a:latin typeface="微軟正黑體"/>
              </a:defRPr>
            </a:pPr>
            <a:r>
              <a:t>星嵐大飯店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0" y="109728"/>
            <a:ext cx="6858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微軟正黑體"/>
              </a:defRPr>
            </a:pPr>
            <a:r>
              <a:t>福福卡與波波卡 1-8月 各館訂房房晚數前三名</a:t>
            </a:r>
          </a:p>
          <a:p>
            <a:pPr>
              <a:defRPr sz="1200">
                <a:solidFill>
                  <a:srgbClr val="C5A880"/>
                </a:solidFill>
                <a:latin typeface="Arial"/>
              </a:defRPr>
            </a:pPr>
            <a:r>
              <a:t>VIP 會員偏好據點與累計訂房指標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182880"/>
            <a:ext cx="1828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i="1" sz="1200">
                <a:solidFill>
                  <a:srgbClr val="C5A880"/>
                </a:solidFill>
                <a:latin typeface="Georgia"/>
              </a:defRPr>
            </a:pPr>
            <a:r>
              <a:t>More Than A Stay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B2545"/>
          </a:solidFill>
          <a:ln>
            <a:solidFill>
              <a:srgbClr val="0B2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73952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FFFFF"/>
                </a:solidFill>
                <a:latin typeface="微軟正黑體"/>
              </a:defRPr>
            </a:pPr>
            <a:r>
              <a:t>STARSHORE HOTEL 星嵐大飯店  |  美好，從星嵐開始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234440"/>
            <a:ext cx="5303520" cy="4937760"/>
          </a:xfrm>
          <a:prstGeom prst="roundRect">
            <a:avLst/>
          </a:prstGeom>
          <a:solidFill>
            <a:srgbClr val="F5F7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48640" y="1234440"/>
            <a:ext cx="5303520" cy="594360"/>
          </a:xfrm>
          <a:prstGeom prst="roundRect">
            <a:avLst/>
          </a:prstGeom>
          <a:solidFill>
            <a:srgbClr val="134074"/>
          </a:solidFill>
          <a:ln>
            <a:solidFill>
              <a:srgbClr val="1340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280160"/>
            <a:ext cx="4937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微軟正黑體"/>
              </a:defRPr>
            </a:pPr>
            <a:r>
              <a:t>福福卡 1-8月 各館訂房房晚數前三名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1965960"/>
            <a:ext cx="155448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011680"/>
            <a:ext cx="1554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>
                <a:solidFill>
                  <a:srgbClr val="78828C"/>
                </a:solidFill>
                <a:latin typeface="微軟正黑體"/>
              </a:defRPr>
            </a:pPr>
            <a:r>
              <a:t>總訂房次數</a:t>
            </a:r>
          </a:p>
          <a:p>
            <a:pPr algn="ctr">
              <a:defRPr sz="1500" b="1">
                <a:solidFill>
                  <a:srgbClr val="0B2545"/>
                </a:solidFill>
                <a:latin typeface="Arial"/>
              </a:defRPr>
            </a:pPr>
            <a:r>
              <a:t>11 次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423160" y="1965960"/>
            <a:ext cx="155448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423160" y="2011680"/>
            <a:ext cx="1554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>
                <a:solidFill>
                  <a:srgbClr val="78828C"/>
                </a:solidFill>
                <a:latin typeface="微軟正黑體"/>
              </a:defRPr>
            </a:pPr>
            <a:r>
              <a:t>總房晚數</a:t>
            </a:r>
          </a:p>
          <a:p>
            <a:pPr algn="ctr">
              <a:defRPr sz="1500" b="1">
                <a:solidFill>
                  <a:srgbClr val="0B2545"/>
                </a:solidFill>
                <a:latin typeface="Arial"/>
              </a:defRPr>
            </a:pPr>
            <a:r>
              <a:t>13 晚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14800" y="1965960"/>
            <a:ext cx="155448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0" y="2011680"/>
            <a:ext cx="1554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>
                <a:solidFill>
                  <a:srgbClr val="78828C"/>
                </a:solidFill>
                <a:latin typeface="微軟正黑體"/>
              </a:defRPr>
            </a:pPr>
            <a:r>
              <a:t>總間數</a:t>
            </a:r>
          </a:p>
          <a:p>
            <a:pPr algn="ctr">
              <a:defRPr sz="1500" b="1">
                <a:solidFill>
                  <a:srgbClr val="0B2545"/>
                </a:solidFill>
                <a:latin typeface="Arial"/>
              </a:defRPr>
            </a:pPr>
            <a:r>
              <a:t>12 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283464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B2545"/>
                </a:solidFill>
                <a:latin typeface="微軟正黑體"/>
              </a:defRPr>
            </a:pPr>
            <a:r>
              <a:t>訂房次數 TOP 3 (單位: 次)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3200400"/>
            <a:ext cx="2377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latin typeface="微軟正黑體"/>
              </a:defRPr>
            </a:pPr>
            <a:r>
              <a:t>🥇 1. HB 新竹湖濱館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108960" y="3246120"/>
            <a:ext cx="1645919" cy="256032"/>
          </a:xfrm>
          <a:prstGeom prst="rect">
            <a:avLst/>
          </a:prstGeom>
          <a:solidFill>
            <a:srgbClr val="1340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46319" y="320040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latin typeface="Arial"/>
              </a:defRPr>
            </a:pPr>
            <a: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3611880"/>
            <a:ext cx="2377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latin typeface="微軟正黑體"/>
              </a:defRPr>
            </a:pPr>
            <a:r>
              <a:t>🥈 2. SA 蘇澳四季館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108960" y="3657600"/>
            <a:ext cx="1645919" cy="256032"/>
          </a:xfrm>
          <a:prstGeom prst="rect">
            <a:avLst/>
          </a:prstGeom>
          <a:solidFill>
            <a:srgbClr val="1340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46319" y="361188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latin typeface="Arial"/>
              </a:defRPr>
            </a:pPr>
            <a: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4023360"/>
            <a:ext cx="2377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latin typeface="微軟正黑體"/>
              </a:defRPr>
            </a:pPr>
            <a:r>
              <a:t>🥉 3. HL 花蓮館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108960" y="4069080"/>
            <a:ext cx="1097280" cy="256032"/>
          </a:xfrm>
          <a:prstGeom prst="rect">
            <a:avLst/>
          </a:prstGeom>
          <a:solidFill>
            <a:srgbClr val="1340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97680" y="402336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latin typeface="Arial"/>
              </a:defRPr>
            </a:pPr>
            <a: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448056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B2545"/>
                </a:solidFill>
                <a:latin typeface="微軟正黑體"/>
              </a:defRPr>
            </a:pPr>
            <a:r>
              <a:t>房晚數 TOP 3 (單位: 晚)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4846320"/>
            <a:ext cx="2377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latin typeface="微軟正黑體"/>
              </a:defRPr>
            </a:pPr>
            <a:r>
              <a:t>🥇 1. SA 蘇澳四季館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108960" y="4892040"/>
            <a:ext cx="1645920" cy="256032"/>
          </a:xfrm>
          <a:prstGeom prst="rect">
            <a:avLst/>
          </a:prstGeom>
          <a:solidFill>
            <a:srgbClr val="C5A8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846320" y="484632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latin typeface="Arial"/>
              </a:defRPr>
            </a:pPr>
            <a: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5257800"/>
            <a:ext cx="2377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latin typeface="微軟正黑體"/>
              </a:defRPr>
            </a:pPr>
            <a:r>
              <a:t>🥈 2. HB 新竹湖濱館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108960" y="5303520"/>
            <a:ext cx="1645920" cy="256032"/>
          </a:xfrm>
          <a:prstGeom prst="rect">
            <a:avLst/>
          </a:prstGeom>
          <a:solidFill>
            <a:srgbClr val="C5A8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846320" y="525780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latin typeface="Arial"/>
              </a:defRPr>
            </a:pPr>
            <a: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0"/>
            <a:ext cx="2377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latin typeface="微軟正黑體"/>
              </a:defRPr>
            </a:pPr>
            <a:r>
              <a:t>🥉 3. HL 花蓮館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108960" y="5715000"/>
            <a:ext cx="822960" cy="256032"/>
          </a:xfrm>
          <a:prstGeom prst="rect">
            <a:avLst/>
          </a:prstGeom>
          <a:solidFill>
            <a:srgbClr val="C5A8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023360" y="566928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latin typeface="Arial"/>
              </a:defRPr>
            </a:pPr>
            <a:r>
              <a:t>2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217920" y="1234440"/>
            <a:ext cx="5303520" cy="4937760"/>
          </a:xfrm>
          <a:prstGeom prst="roundRect">
            <a:avLst/>
          </a:prstGeom>
          <a:solidFill>
            <a:srgbClr val="F5F7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6217920" y="1234440"/>
            <a:ext cx="5303520" cy="594360"/>
          </a:xfrm>
          <a:prstGeom prst="roundRect">
            <a:avLst/>
          </a:prstGeom>
          <a:solidFill>
            <a:srgbClr val="0B2545"/>
          </a:solidFill>
          <a:ln>
            <a:solidFill>
              <a:srgbClr val="0B2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00800" y="1280160"/>
            <a:ext cx="4937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微軟正黑體"/>
              </a:defRPr>
            </a:pPr>
            <a:r>
              <a:t>波波卡 1-8月 各館訂房房晚數前三名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400800" y="1965960"/>
            <a:ext cx="155448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00800" y="2011680"/>
            <a:ext cx="1554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>
                <a:solidFill>
                  <a:srgbClr val="78828C"/>
                </a:solidFill>
                <a:latin typeface="微軟正黑體"/>
              </a:defRPr>
            </a:pPr>
            <a:r>
              <a:t>總訂房次數</a:t>
            </a:r>
          </a:p>
          <a:p>
            <a:pPr algn="ctr">
              <a:defRPr sz="1500" b="1">
                <a:solidFill>
                  <a:srgbClr val="0B2545"/>
                </a:solidFill>
                <a:latin typeface="Arial"/>
              </a:defRPr>
            </a:pPr>
            <a:r>
              <a:t>948 次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092440" y="1965960"/>
            <a:ext cx="155448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092440" y="2011680"/>
            <a:ext cx="1554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>
                <a:solidFill>
                  <a:srgbClr val="78828C"/>
                </a:solidFill>
                <a:latin typeface="微軟正黑體"/>
              </a:defRPr>
            </a:pPr>
            <a:r>
              <a:t>總房晚數</a:t>
            </a:r>
          </a:p>
          <a:p>
            <a:pPr algn="ctr">
              <a:defRPr sz="1500" b="1">
                <a:solidFill>
                  <a:srgbClr val="0B2545"/>
                </a:solidFill>
                <a:latin typeface="Arial"/>
              </a:defRPr>
            </a:pPr>
            <a:r>
              <a:t>1,815 晚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784080" y="1965960"/>
            <a:ext cx="155448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784080" y="2011680"/>
            <a:ext cx="1554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>
                <a:solidFill>
                  <a:srgbClr val="78828C"/>
                </a:solidFill>
                <a:latin typeface="微軟正黑體"/>
              </a:defRPr>
            </a:pPr>
            <a:r>
              <a:t>總間數</a:t>
            </a:r>
          </a:p>
          <a:p>
            <a:pPr algn="ctr">
              <a:defRPr sz="1500" b="1">
                <a:solidFill>
                  <a:srgbClr val="0B2545"/>
                </a:solidFill>
                <a:latin typeface="Arial"/>
              </a:defRPr>
            </a:pPr>
            <a:r>
              <a:t>1,156 間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00800" y="283464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B2545"/>
                </a:solidFill>
                <a:latin typeface="微軟正黑體"/>
              </a:defRPr>
            </a:pPr>
            <a:r>
              <a:t>訂房次數 TOP 3 (單位: 次)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00800" y="3200400"/>
            <a:ext cx="2377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latin typeface="微軟正黑體"/>
              </a:defRPr>
            </a:pPr>
            <a:r>
              <a:t>🥇 1. TN 台南館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778240" y="3246120"/>
            <a:ext cx="1525219" cy="256032"/>
          </a:xfrm>
          <a:prstGeom prst="rect">
            <a:avLst/>
          </a:prstGeom>
          <a:solidFill>
            <a:srgbClr val="1340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0394899" y="320040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latin typeface="Arial"/>
              </a:defRPr>
            </a:pPr>
            <a:r>
              <a:t>278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00800" y="3611880"/>
            <a:ext cx="2377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latin typeface="微軟正黑體"/>
              </a:defRPr>
            </a:pPr>
            <a:r>
              <a:t>🥈 2. SA 蘇澳四季館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778240" y="3657600"/>
            <a:ext cx="971092" cy="256032"/>
          </a:xfrm>
          <a:prstGeom prst="rect">
            <a:avLst/>
          </a:prstGeom>
          <a:solidFill>
            <a:srgbClr val="1340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840772" y="361188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latin typeface="Arial"/>
              </a:defRPr>
            </a:pPr>
            <a:r>
              <a:t>177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00800" y="4023360"/>
            <a:ext cx="2377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latin typeface="微軟正黑體"/>
              </a:defRPr>
            </a:pPr>
            <a:r>
              <a:t>🥉 3. HB 新竹湖濱館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778240" y="4069080"/>
            <a:ext cx="833932" cy="256032"/>
          </a:xfrm>
          <a:prstGeom prst="rect">
            <a:avLst/>
          </a:prstGeom>
          <a:solidFill>
            <a:srgbClr val="1340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703612" y="402336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latin typeface="Arial"/>
              </a:defRPr>
            </a:pPr>
            <a:r>
              <a:t>152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400800" y="448056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B2545"/>
                </a:solidFill>
                <a:latin typeface="微軟正黑體"/>
              </a:defRPr>
            </a:pPr>
            <a:r>
              <a:t>房晚數 TOP 3 (單位: 晚)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400800" y="4846320"/>
            <a:ext cx="2377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latin typeface="微軟正黑體"/>
              </a:defRPr>
            </a:pPr>
            <a:r>
              <a:t>🥇 1. TN 台南館</a:t>
            </a:r>
          </a:p>
        </p:txBody>
      </p:sp>
      <p:sp>
        <p:nvSpPr>
          <p:cNvPr id="58" name="Rectangle 57"/>
          <p:cNvSpPr/>
          <p:nvPr/>
        </p:nvSpPr>
        <p:spPr>
          <a:xfrm>
            <a:off x="8778240" y="4892040"/>
            <a:ext cx="1521842" cy="256032"/>
          </a:xfrm>
          <a:prstGeom prst="rect">
            <a:avLst/>
          </a:prstGeom>
          <a:solidFill>
            <a:srgbClr val="C5A8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0391522" y="484632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latin typeface="Arial"/>
              </a:defRPr>
            </a:pPr>
            <a:r>
              <a:t>601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400800" y="5257800"/>
            <a:ext cx="2377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latin typeface="微軟正黑體"/>
              </a:defRPr>
            </a:pPr>
            <a:r>
              <a:t>🥈 2. SA 蘇澳四季館</a:t>
            </a:r>
          </a:p>
        </p:txBody>
      </p:sp>
      <p:sp>
        <p:nvSpPr>
          <p:cNvPr id="61" name="Rectangle 60"/>
          <p:cNvSpPr/>
          <p:nvPr/>
        </p:nvSpPr>
        <p:spPr>
          <a:xfrm>
            <a:off x="8778240" y="5303520"/>
            <a:ext cx="835620" cy="256032"/>
          </a:xfrm>
          <a:prstGeom prst="rect">
            <a:avLst/>
          </a:prstGeom>
          <a:solidFill>
            <a:srgbClr val="C5A8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705300" y="525780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latin typeface="Arial"/>
              </a:defRPr>
            </a:pPr>
            <a:r>
              <a:t>330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400800" y="5669280"/>
            <a:ext cx="2377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latin typeface="微軟正黑體"/>
              </a:defRPr>
            </a:pPr>
            <a:r>
              <a:t>🥉 3. HB 新竹湖濱館</a:t>
            </a:r>
          </a:p>
        </p:txBody>
      </p:sp>
      <p:sp>
        <p:nvSpPr>
          <p:cNvPr id="64" name="Rectangle 63"/>
          <p:cNvSpPr/>
          <p:nvPr/>
        </p:nvSpPr>
        <p:spPr>
          <a:xfrm>
            <a:off x="8778240" y="5715000"/>
            <a:ext cx="688754" cy="256032"/>
          </a:xfrm>
          <a:prstGeom prst="rect">
            <a:avLst/>
          </a:prstGeom>
          <a:solidFill>
            <a:srgbClr val="C5A8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9558434" y="566928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latin typeface="Arial"/>
              </a:defRPr>
            </a:pPr>
            <a:r>
              <a:t>272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2545"/>
          </a:solidFill>
          <a:ln>
            <a:solidFill>
              <a:srgbClr val="0B2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C5A880"/>
                </a:solidFill>
                <a:latin typeface="Arial"/>
              </a:defRPr>
            </a:pPr>
            <a:r>
              <a:t>STARSHORE HOTEL</a:t>
            </a:r>
          </a:p>
          <a:p>
            <a:pPr>
              <a:defRPr sz="1300" b="1">
                <a:solidFill>
                  <a:srgbClr val="FFFFFF"/>
                </a:solidFill>
                <a:latin typeface="微軟正黑體"/>
              </a:defRPr>
            </a:pPr>
            <a:r>
              <a:t>星嵐大飯店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0" y="109728"/>
            <a:ext cx="6858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微軟正黑體"/>
              </a:defRPr>
            </a:pPr>
            <a:r>
              <a:t>2026年 1-8月 訂房成效分析 By Book Day (Actual A)</a:t>
            </a:r>
          </a:p>
          <a:p>
            <a:pPr>
              <a:defRPr sz="1200">
                <a:solidFill>
                  <a:srgbClr val="C5A880"/>
                </a:solidFill>
                <a:latin typeface="Arial"/>
              </a:defRPr>
            </a:pPr>
            <a:r>
              <a:t>間數走勢與營業收入雙軸成長指標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182880"/>
            <a:ext cx="1828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i="1" sz="1200">
                <a:solidFill>
                  <a:srgbClr val="C5A880"/>
                </a:solidFill>
                <a:latin typeface="Georgia"/>
              </a:defRPr>
            </a:pPr>
            <a:r>
              <a:t>More Than A Stay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B2545"/>
          </a:solidFill>
          <a:ln>
            <a:solidFill>
              <a:srgbClr val="0B2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73952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FFFFF"/>
                </a:solidFill>
                <a:latin typeface="微軟正黑體"/>
              </a:defRPr>
            </a:pPr>
            <a:r>
              <a:t>STARSHORE HOTEL 星嵐大飯店  |  美好，從星嵐開始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234440"/>
            <a:ext cx="5943600" cy="393192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32588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B2545"/>
                </a:solidFill>
                <a:latin typeface="微軟正黑體"/>
              </a:defRPr>
            </a:pPr>
            <a:r>
              <a:t>圖表 1 ｜ 2026年 1-8月 Actual(A) 訂房表現 (訂房間數 vs 營收)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731520" y="1737360"/>
          <a:ext cx="5577840" cy="3200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6675120" y="1234440"/>
            <a:ext cx="4937760" cy="393192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0" y="132588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B2545"/>
                </a:solidFill>
                <a:latin typeface="微軟正黑體"/>
              </a:defRPr>
            </a:pPr>
            <a:r>
              <a:t>圖表 2 ｜ 2025 vs 2026 Actual(A) 累計訂房表現 (1-8月)</a:t>
            </a:r>
          </a:p>
        </p:txBody>
      </p:sp>
      <p:graphicFrame>
        <p:nvGraphicFramePr>
          <p:cNvPr id="13" name="Chart 12"/>
          <p:cNvGraphicFramePr>
            <a:graphicFrameLocks noGrp="1"/>
          </p:cNvGraphicFramePr>
          <p:nvPr/>
        </p:nvGraphicFramePr>
        <p:xfrm>
          <a:off x="6858000" y="1737360"/>
          <a:ext cx="4572000" cy="32004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4" name="Rounded Rectangle 13"/>
          <p:cNvSpPr/>
          <p:nvPr/>
        </p:nvSpPr>
        <p:spPr>
          <a:xfrm>
            <a:off x="548640" y="5303520"/>
            <a:ext cx="3566160" cy="960120"/>
          </a:xfrm>
          <a:prstGeom prst="roundRect">
            <a:avLst/>
          </a:prstGeom>
          <a:solidFill>
            <a:srgbClr val="F5F7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5349240"/>
            <a:ext cx="329184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78828C"/>
                </a:solidFill>
                <a:latin typeface="微軟正黑體"/>
              </a:defRPr>
            </a:pPr>
            <a:r>
              <a:t>1-8月 累計訂房間數</a:t>
            </a:r>
          </a:p>
          <a:p>
            <a:pPr>
              <a:defRPr sz="1700" b="1">
                <a:solidFill>
                  <a:srgbClr val="0B2545"/>
                </a:solidFill>
                <a:latin typeface="Arial"/>
              </a:defRPr>
            </a:pPr>
            <a:r>
              <a:t>1,562 間</a:t>
            </a:r>
          </a:p>
          <a:p>
            <a:pPr>
              <a:defRPr sz="950">
                <a:solidFill>
                  <a:srgbClr val="134074"/>
                </a:solidFill>
                <a:latin typeface="微軟正黑體"/>
              </a:defRPr>
            </a:pPr>
            <a:r>
              <a:t>年增 +50.5% (1,038 ➔ 1,562)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79" y="5303520"/>
            <a:ext cx="3566160" cy="960120"/>
          </a:xfrm>
          <a:prstGeom prst="roundRect">
            <a:avLst/>
          </a:prstGeom>
          <a:solidFill>
            <a:srgbClr val="F5F7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34839" y="5349240"/>
            <a:ext cx="329184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78828C"/>
                </a:solidFill>
                <a:latin typeface="微軟正黑體"/>
              </a:defRPr>
            </a:pPr>
            <a:r>
              <a:t>1-8月 累計營業收入</a:t>
            </a:r>
          </a:p>
          <a:p>
            <a:pPr>
              <a:defRPr sz="1700" b="1">
                <a:solidFill>
                  <a:srgbClr val="EE6C4D"/>
                </a:solidFill>
                <a:latin typeface="Arial"/>
              </a:defRPr>
            </a:pPr>
            <a:r>
              <a:t>NT$ 890 萬</a:t>
            </a:r>
          </a:p>
          <a:p>
            <a:pPr>
              <a:defRPr sz="950">
                <a:solidFill>
                  <a:srgbClr val="134074"/>
                </a:solidFill>
                <a:latin typeface="微軟正黑體"/>
              </a:defRPr>
            </a:pPr>
            <a:r>
              <a:t>年增 +56.7% (568萬 ➔ 890萬)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46719" y="5303520"/>
            <a:ext cx="3566160" cy="960120"/>
          </a:xfrm>
          <a:prstGeom prst="roundRect">
            <a:avLst/>
          </a:prstGeom>
          <a:solidFill>
            <a:srgbClr val="F5F7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83879" y="5349240"/>
            <a:ext cx="329184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78828C"/>
                </a:solidFill>
                <a:latin typeface="微軟正黑體"/>
              </a:defRPr>
            </a:pPr>
            <a:r>
              <a:t>營運趨勢核心結論</a:t>
            </a:r>
          </a:p>
          <a:p>
            <a:pPr>
              <a:defRPr sz="1700" b="1">
                <a:solidFill>
                  <a:srgbClr val="0B2545"/>
                </a:solidFill>
                <a:latin typeface="Arial"/>
              </a:defRPr>
            </a:pPr>
            <a:r>
              <a:t>量價齊揚 成長強勁</a:t>
            </a:r>
          </a:p>
          <a:p>
            <a:pPr>
              <a:defRPr sz="950">
                <a:solidFill>
                  <a:srgbClr val="134074"/>
                </a:solidFill>
                <a:latin typeface="微軟正黑體"/>
              </a:defRPr>
            </a:pPr>
            <a:r>
              <a:t>暑假 7~8 月達最高峰，營收突破 303 萬元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2545"/>
          </a:solidFill>
          <a:ln>
            <a:solidFill>
              <a:srgbClr val="0B2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C5A880"/>
                </a:solidFill>
                <a:latin typeface="Arial"/>
              </a:defRPr>
            </a:pPr>
            <a:r>
              <a:t>STARSHORE HOTEL</a:t>
            </a:r>
          </a:p>
          <a:p>
            <a:pPr>
              <a:defRPr sz="1300" b="1">
                <a:solidFill>
                  <a:srgbClr val="FFFFFF"/>
                </a:solidFill>
                <a:latin typeface="微軟正黑體"/>
              </a:defRPr>
            </a:pPr>
            <a:r>
              <a:t>星嵐大飯店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0" y="109728"/>
            <a:ext cx="6858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微軟正黑體"/>
              </a:defRPr>
            </a:pPr>
            <a:r>
              <a:t>2026 目標 ADR 達成率與 2025 ADR 差異分析</a:t>
            </a:r>
          </a:p>
          <a:p>
            <a:pPr>
              <a:defRPr sz="1200">
                <a:solidFill>
                  <a:srgbClr val="C5A880"/>
                </a:solidFill>
                <a:latin typeface="Arial"/>
              </a:defRPr>
            </a:pPr>
            <a:r>
              <a:t>By Book Day (1-8月平均房價定價策略效益評估)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182880"/>
            <a:ext cx="1828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i="1" sz="1200">
                <a:solidFill>
                  <a:srgbClr val="C5A880"/>
                </a:solidFill>
                <a:latin typeface="Georgia"/>
              </a:defRPr>
            </a:pPr>
            <a:r>
              <a:t>More Than A Stay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B2545"/>
          </a:solidFill>
          <a:ln>
            <a:solidFill>
              <a:srgbClr val="0B2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73952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FFFFF"/>
                </a:solidFill>
                <a:latin typeface="微軟正黑體"/>
              </a:defRPr>
            </a:pPr>
            <a:r>
              <a:t>STARSHORE HOTEL 星嵐大飯店  |  美好，從星嵐開始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234440"/>
            <a:ext cx="5486400" cy="246888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280160"/>
            <a:ext cx="5120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B2545"/>
                </a:solidFill>
                <a:latin typeface="微軟正黑體"/>
              </a:defRPr>
            </a:pPr>
            <a:r>
              <a:t>圖表 1 ｜ 2026 目標 ADR 達成率 (1-8月)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731520" y="1600200"/>
          <a:ext cx="5120640" cy="20116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6217920" y="1234440"/>
            <a:ext cx="5394960" cy="246888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280160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B2545"/>
                </a:solidFill>
                <a:latin typeface="微軟正黑體"/>
              </a:defRPr>
            </a:pPr>
            <a:r>
              <a:t>圖表 2 ｜ 2026 與 2025 ADR 差異分析 (1-8月)</a:t>
            </a:r>
          </a:p>
        </p:txBody>
      </p:sp>
      <p:graphicFrame>
        <p:nvGraphicFramePr>
          <p:cNvPr id="13" name="Chart 12"/>
          <p:cNvGraphicFramePr>
            <a:graphicFrameLocks noGrp="1"/>
          </p:cNvGraphicFramePr>
          <p:nvPr/>
        </p:nvGraphicFramePr>
        <p:xfrm>
          <a:off x="6400800" y="1600200"/>
          <a:ext cx="5029200" cy="20116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548640" y="3840480"/>
          <a:ext cx="5486400" cy="2423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914400"/>
                <a:gridCol w="1005840"/>
                <a:gridCol w="914400"/>
                <a:gridCol w="914400"/>
                <a:gridCol w="1005840"/>
              </a:tblGrid>
              <a:tr h="242316"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微軟正黑體"/>
                        </a:defRPr>
                      </a:pPr>
                      <a:r>
                        <a:t>月份</a:t>
                      </a:r>
                    </a:p>
                  </a:txBody>
                  <a:tcPr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微軟正黑體"/>
                        </a:defRPr>
                      </a:pPr>
                      <a:r>
                        <a:t>2026目標</a:t>
                      </a:r>
                    </a:p>
                  </a:txBody>
                  <a:tcPr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微軟正黑體"/>
                        </a:defRPr>
                      </a:pPr>
                      <a:r>
                        <a:t>2026實際</a:t>
                      </a:r>
                    </a:p>
                  </a:txBody>
                  <a:tcPr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微軟正黑體"/>
                        </a:defRPr>
                      </a:pPr>
                      <a:r>
                        <a:t>達成率</a:t>
                      </a:r>
                    </a:p>
                  </a:txBody>
                  <a:tcPr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微軟正黑體"/>
                        </a:defRPr>
                      </a:pPr>
                      <a:r>
                        <a:t>2025實際</a:t>
                      </a:r>
                    </a:p>
                  </a:txBody>
                  <a:tcPr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微軟正黑體"/>
                        </a:defRPr>
                      </a:pPr>
                      <a:r>
                        <a:t>YoY差異%</a:t>
                      </a:r>
                    </a:p>
                  </a:txBody>
                  <a:tcPr>
                    <a:solidFill>
                      <a:srgbClr val="0B2545"/>
                    </a:solidFill>
                  </a:tcPr>
                </a:tc>
              </a:tr>
              <a:tr h="242316">
                <a:tc>
                  <a:txBody>
                    <a:bodyPr/>
                    <a:lstStyle/>
                    <a:p>
                      <a:pPr algn="ctr">
                        <a:defRPr sz="900" b="0">
                          <a:latin typeface="微軟正黑體"/>
                        </a:defRPr>
                      </a:pPr>
                      <a:r>
                        <a:t>1月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latin typeface="Arial"/>
                        </a:defRPr>
                      </a:pPr>
                      <a:r>
                        <a:t>5,395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latin typeface="Arial"/>
                        </a:defRPr>
                      </a:pPr>
                      <a:r>
                        <a:t>5,862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latin typeface="Arial"/>
                        </a:defRPr>
                      </a:pPr>
                      <a:r>
                        <a:t>109%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latin typeface="Arial"/>
                        </a:defRPr>
                      </a:pPr>
                      <a:r>
                        <a:t>5,388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latin typeface="Arial"/>
                        </a:defRPr>
                      </a:pPr>
                      <a:r>
                        <a:t>+8.8%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42316">
                <a:tc>
                  <a:txBody>
                    <a:bodyPr/>
                    <a:lstStyle/>
                    <a:p>
                      <a:pPr algn="ctr">
                        <a:defRPr sz="900" b="0">
                          <a:latin typeface="微軟正黑體"/>
                        </a:defRPr>
                      </a:pPr>
                      <a:r>
                        <a:t>2月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latin typeface="Arial"/>
                        </a:defRPr>
                      </a:pPr>
                      <a:r>
                        <a:t>5,235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latin typeface="Arial"/>
                        </a:defRPr>
                      </a:pPr>
                      <a:r>
                        <a:t>4,954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latin typeface="Arial"/>
                        </a:defRPr>
                      </a:pPr>
                      <a:r>
                        <a:t>95%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latin typeface="Arial"/>
                        </a:defRPr>
                      </a:pPr>
                      <a:r>
                        <a:t>4,930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latin typeface="Arial"/>
                        </a:defRPr>
                      </a:pPr>
                      <a:r>
                        <a:t>+0.5%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242316">
                <a:tc>
                  <a:txBody>
                    <a:bodyPr/>
                    <a:lstStyle/>
                    <a:p>
                      <a:pPr algn="ctr">
                        <a:defRPr sz="900" b="0">
                          <a:latin typeface="微軟正黑體"/>
                        </a:defRPr>
                      </a:pPr>
                      <a:r>
                        <a:t>3月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latin typeface="Arial"/>
                        </a:defRPr>
                      </a:pPr>
                      <a:r>
                        <a:t>5,153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latin typeface="Arial"/>
                        </a:defRPr>
                      </a:pPr>
                      <a:r>
                        <a:t>5,890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latin typeface="Arial"/>
                        </a:defRPr>
                      </a:pPr>
                      <a:r>
                        <a:t>114%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latin typeface="Arial"/>
                        </a:defRPr>
                      </a:pPr>
                      <a:r>
                        <a:t>6,428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latin typeface="Arial"/>
                        </a:defRPr>
                      </a:pPr>
                      <a:r>
                        <a:t>-8.4%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42316">
                <a:tc>
                  <a:txBody>
                    <a:bodyPr/>
                    <a:lstStyle/>
                    <a:p>
                      <a:pPr algn="ctr">
                        <a:defRPr sz="900" b="0">
                          <a:latin typeface="微軟正黑體"/>
                        </a:defRPr>
                      </a:pPr>
                      <a:r>
                        <a:t>4月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latin typeface="Arial"/>
                        </a:defRPr>
                      </a:pPr>
                      <a:r>
                        <a:t>5,809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latin typeface="Arial"/>
                        </a:defRPr>
                      </a:pPr>
                      <a:r>
                        <a:t>5,901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latin typeface="Arial"/>
                        </a:defRPr>
                      </a:pPr>
                      <a:r>
                        <a:t>102%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latin typeface="Arial"/>
                        </a:defRPr>
                      </a:pPr>
                      <a:r>
                        <a:t>4,970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latin typeface="Arial"/>
                        </a:defRPr>
                      </a:pPr>
                      <a:r>
                        <a:t>+18.7%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242316">
                <a:tc>
                  <a:txBody>
                    <a:bodyPr/>
                    <a:lstStyle/>
                    <a:p>
                      <a:pPr algn="ctr">
                        <a:defRPr sz="900" b="0">
                          <a:latin typeface="微軟正黑體"/>
                        </a:defRPr>
                      </a:pPr>
                      <a:r>
                        <a:t>5月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latin typeface="Arial"/>
                        </a:defRPr>
                      </a:pPr>
                      <a:r>
                        <a:t>5,222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latin typeface="Arial"/>
                        </a:defRPr>
                      </a:pPr>
                      <a:r>
                        <a:t>5,894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latin typeface="Arial"/>
                        </a:defRPr>
                      </a:pPr>
                      <a:r>
                        <a:t>113%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latin typeface="Arial"/>
                        </a:defRPr>
                      </a:pPr>
                      <a:r>
                        <a:t>4,710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latin typeface="Arial"/>
                        </a:defRPr>
                      </a:pPr>
                      <a:r>
                        <a:t>+25.1%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42316">
                <a:tc>
                  <a:txBody>
                    <a:bodyPr/>
                    <a:lstStyle/>
                    <a:p>
                      <a:pPr algn="ctr">
                        <a:defRPr sz="900" b="0">
                          <a:latin typeface="微軟正黑體"/>
                        </a:defRPr>
                      </a:pPr>
                      <a:r>
                        <a:t>6月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latin typeface="Arial"/>
                        </a:defRPr>
                      </a:pPr>
                      <a:r>
                        <a:t>5,192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latin typeface="Arial"/>
                        </a:defRPr>
                      </a:pPr>
                      <a:r>
                        <a:t>5,780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latin typeface="Arial"/>
                        </a:defRPr>
                      </a:pPr>
                      <a:r>
                        <a:t>111%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latin typeface="Arial"/>
                        </a:defRPr>
                      </a:pPr>
                      <a:r>
                        <a:t>6,273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latin typeface="Arial"/>
                        </a:defRPr>
                      </a:pPr>
                      <a:r>
                        <a:t>-7.9%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242316">
                <a:tc>
                  <a:txBody>
                    <a:bodyPr/>
                    <a:lstStyle/>
                    <a:p>
                      <a:pPr algn="ctr">
                        <a:defRPr sz="900" b="0">
                          <a:latin typeface="微軟正黑體"/>
                        </a:defRPr>
                      </a:pPr>
                      <a:r>
                        <a:t>7月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latin typeface="Arial"/>
                        </a:defRPr>
                      </a:pPr>
                      <a:r>
                        <a:t>5,383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latin typeface="Arial"/>
                        </a:defRPr>
                      </a:pPr>
                      <a:r>
                        <a:t>5,845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latin typeface="Arial"/>
                        </a:defRPr>
                      </a:pPr>
                      <a:r>
                        <a:t>109%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latin typeface="Arial"/>
                        </a:defRPr>
                      </a:pPr>
                      <a:r>
                        <a:t>5,472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latin typeface="Arial"/>
                        </a:defRPr>
                      </a:pPr>
                      <a:r>
                        <a:t>+6.8%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42316">
                <a:tc>
                  <a:txBody>
                    <a:bodyPr/>
                    <a:lstStyle/>
                    <a:p>
                      <a:pPr algn="ctr">
                        <a:defRPr sz="900" b="0">
                          <a:latin typeface="微軟正黑體"/>
                        </a:defRPr>
                      </a:pPr>
                      <a:r>
                        <a:t>8月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latin typeface="Arial"/>
                        </a:defRPr>
                      </a:pPr>
                      <a:r>
                        <a:t>5,384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latin typeface="Arial"/>
                        </a:defRPr>
                      </a:pPr>
                      <a:r>
                        <a:t>5,860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latin typeface="Arial"/>
                        </a:defRPr>
                      </a:pPr>
                      <a:r>
                        <a:t>109%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latin typeface="Arial"/>
                        </a:defRPr>
                      </a:pPr>
                      <a:r>
                        <a:t>5,395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latin typeface="Arial"/>
                        </a:defRPr>
                      </a:pPr>
                      <a:r>
                        <a:t>+8.6%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242316">
                <a:tc>
                  <a:txBody>
                    <a:bodyPr/>
                    <a:lstStyle/>
                    <a:p>
                      <a:pPr algn="ctr">
                        <a:defRPr sz="900" b="1">
                          <a:latin typeface="微軟正黑體"/>
                        </a:defRPr>
                      </a:pPr>
                      <a:r>
                        <a:t>平均</a:t>
                      </a:r>
                    </a:p>
                  </a:txBody>
                  <a:tcPr>
                    <a:solidFill>
                      <a:srgbClr val="E6EB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latin typeface="Arial"/>
                        </a:defRPr>
                      </a:pPr>
                      <a:r>
                        <a:t>5,347</a:t>
                      </a:r>
                    </a:p>
                  </a:txBody>
                  <a:tcPr>
                    <a:solidFill>
                      <a:srgbClr val="E6EB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latin typeface="Arial"/>
                        </a:defRPr>
                      </a:pPr>
                      <a:r>
                        <a:t>5,836</a:t>
                      </a:r>
                    </a:p>
                  </a:txBody>
                  <a:tcPr>
                    <a:solidFill>
                      <a:srgbClr val="E6EB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latin typeface="Arial"/>
                        </a:defRPr>
                      </a:pPr>
                      <a:r>
                        <a:t>109%</a:t>
                      </a:r>
                    </a:p>
                  </a:txBody>
                  <a:tcPr>
                    <a:solidFill>
                      <a:srgbClr val="E6EB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latin typeface="Arial"/>
                        </a:defRPr>
                      </a:pPr>
                      <a:r>
                        <a:t>5,570</a:t>
                      </a:r>
                    </a:p>
                  </a:txBody>
                  <a:tcPr>
                    <a:solidFill>
                      <a:srgbClr val="E6EB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latin typeface="Arial"/>
                        </a:defRPr>
                      </a:pPr>
                      <a:r>
                        <a:t>+4.8%</a:t>
                      </a:r>
                    </a:p>
                  </a:txBody>
                  <a:tcPr>
                    <a:solidFill>
                      <a:srgbClr val="E6EBF5"/>
                    </a:solidFill>
                  </a:tcPr>
                </a:tc>
              </a:tr>
            </a:tbl>
          </a:graphicData>
        </a:graphic>
      </p:graphicFrame>
      <p:sp>
        <p:nvSpPr>
          <p:cNvPr id="15" name="Rounded Rectangle 14"/>
          <p:cNvSpPr/>
          <p:nvPr/>
        </p:nvSpPr>
        <p:spPr>
          <a:xfrm>
            <a:off x="6217920" y="3840480"/>
            <a:ext cx="5394960" cy="2423160"/>
          </a:xfrm>
          <a:prstGeom prst="roundRect">
            <a:avLst/>
          </a:prstGeom>
          <a:solidFill>
            <a:srgbClr val="FEFAF6"/>
          </a:solidFill>
          <a:ln>
            <a:solidFill>
              <a:srgbClr val="C5A8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3931920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B2545"/>
                </a:solidFill>
                <a:latin typeface="微軟正黑體"/>
              </a:defRPr>
            </a:pPr>
            <a:r>
              <a:t>💡 重點摘要與商業洞察 (Key Takeaways)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4251960"/>
            <a:ext cx="50292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E6C4D"/>
                </a:solidFill>
                <a:latin typeface="微軟正黑體"/>
              </a:defRPr>
            </a:pPr>
            <a:r>
              <a:t>🎯 2026 1-8月 目標達成率：109% (5,836元 / 5,347元)   📈 YoY 差異：+4.8% (+266元)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4754880"/>
            <a:ext cx="50292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1D2D44"/>
                </a:solidFill>
                <a:latin typeface="微軟正黑體"/>
              </a:defRPr>
            </a:pPr>
            <a:r>
              <a:t>• 2026 年 1-8 月整體目標 ADR 達成率為 109%，8 個月份中有 7 個月份超越預算目標。</a:t>
            </a:r>
          </a:p>
          <a:p>
            <a:pPr>
              <a:defRPr sz="950">
                <a:solidFill>
                  <a:srgbClr val="1D2D44"/>
                </a:solidFill>
                <a:latin typeface="微軟正黑體"/>
              </a:defRPr>
            </a:pPr>
            <a:r>
              <a:t>• 與 2025 年相比，平均 ADR 成長 4.8%（+266 元），呈現「量增價揚」的正向定價走勢。</a:t>
            </a:r>
          </a:p>
          <a:p>
            <a:pPr>
              <a:defRPr sz="950">
                <a:solidFill>
                  <a:srgbClr val="1D2D44"/>
                </a:solidFill>
                <a:latin typeface="微軟正黑體"/>
              </a:defRPr>
            </a:pPr>
            <a:r>
              <a:t>• 以月份成長動能來看，5 月成長幅度最高（+25.1%），4 月次之（+18.7%），顯示春季專案奏效。</a:t>
            </a:r>
          </a:p>
          <a:p>
            <a:pPr>
              <a:defRPr sz="950">
                <a:solidFill>
                  <a:srgbClr val="1D2D44"/>
                </a:solidFill>
                <a:latin typeface="微軟正黑體"/>
              </a:defRPr>
            </a:pPr>
            <a:r>
              <a:t>• 3 月與 6 月較 2025 年呈現微幅負成長（-8.4% 及 -7.9%），主要受去年同期高基期影響，非需求減退。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