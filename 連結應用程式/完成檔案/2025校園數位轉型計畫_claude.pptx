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HK Grotesk Semi-Bold" charset="1" panose="00000700000000000000"/>
      <p:regular r:id="rId15"/>
    </p:embeddedFont>
    <p:embeddedFont>
      <p:font typeface="HK Grotesk" charset="1" panose="00000500000000000000"/>
      <p:regular r:id="rId16"/>
    </p:embeddedFont>
    <p:embeddedFont>
      <p:font typeface="Noto Serif Display ExtraCondensed Light" charset="1" panose="02020406080505020204"/>
      <p:regular r:id="rId17"/>
    </p:embeddedFont>
    <p:embeddedFont>
      <p:font typeface="HK Grotesk Bold" charset="1" panose="000008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0"/>
            <a:ext cx="8991600" cy="10287000"/>
            <a:chOff x="0" y="0"/>
            <a:chExt cx="1393034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93034" cy="1593725"/>
            </a:xfrm>
            <a:custGeom>
              <a:avLst/>
              <a:gdLst/>
              <a:ahLst/>
              <a:cxnLst/>
              <a:rect r="r" b="b" t="t" l="l"/>
              <a:pathLst>
                <a:path h="1593725" w="1393034">
                  <a:moveTo>
                    <a:pt x="0" y="0"/>
                  </a:moveTo>
                  <a:lnTo>
                    <a:pt x="1393034" y="0"/>
                  </a:lnTo>
                  <a:lnTo>
                    <a:pt x="139303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597" r="0" b="-597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666750" y="1638300"/>
            <a:ext cx="6886575" cy="508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99"/>
              </a:lnSpc>
            </a:pPr>
            <a:r>
              <a:rPr lang="en-US" b="true" sz="3899" u="none">
                <a:solidFill>
                  <a:srgbClr val="D4DAF0"/>
                </a:solidFill>
                <a:latin typeface="HK Grotesk Semi-Bold"/>
                <a:ea typeface="HK Grotesk Semi-Bold"/>
                <a:cs typeface="HK Grotesk Semi-Bold"/>
                <a:sym typeface="HK Grotesk Semi-Bold"/>
              </a:rPr>
              <a:t>打造智慧化學習與行政環境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666750" y="2739009"/>
            <a:ext cx="6886575" cy="6824091"/>
            <a:chOff x="0" y="0"/>
            <a:chExt cx="9182100" cy="9098788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7981188"/>
              <a:ext cx="9182100" cy="1117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報告單位：XXX 單位</a:t>
              </a:r>
            </a:p>
            <a:p>
              <a:pPr algn="l" marL="0" indent="0" lvl="0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日期：2025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47650"/>
              <a:ext cx="9182100" cy="68648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139"/>
                </a:lnSpc>
              </a:pPr>
              <a:r>
                <a:rPr lang="en-US" sz="13139" spc="-262">
                  <a:solidFill>
                    <a:srgbClr val="D4DA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2025 校園數位轉型計畫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1619250"/>
            <a:chOff x="0" y="0"/>
            <a:chExt cx="9182100" cy="21590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AI 與雲端技術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 與雲端技術快速改變教學模式，讓學習更加個人化與互動化。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1619250"/>
            <a:chOff x="0" y="0"/>
            <a:chExt cx="9182100" cy="2159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數據驅動決策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數據驅動決策成為教育管理核心，有效提高運營效率和教學質量。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4DA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數位轉型背景與趨勢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教育產業數位轉型趨勢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1743920"/>
            <a:ext cx="6886575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</a:pPr>
            <a:r>
              <a:rPr lang="en-US" sz="9600" spc="-192">
                <a:solidFill>
                  <a:srgbClr val="D4DAF0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目前數位化程度評估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296400" y="1562945"/>
            <a:ext cx="4010025" cy="2168447"/>
            <a:chOff x="0" y="0"/>
            <a:chExt cx="621258" cy="33594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1258" cy="335949"/>
            </a:xfrm>
            <a:custGeom>
              <a:avLst/>
              <a:gdLst/>
              <a:ahLst/>
              <a:cxnLst/>
              <a:rect r="r" b="b" t="t" l="l"/>
              <a:pathLst>
                <a:path h="33594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949"/>
                  </a:lnTo>
                  <a:lnTo>
                    <a:pt x="0" y="335949"/>
                  </a:lnTo>
                  <a:close/>
                </a:path>
              </a:pathLst>
            </a:custGeom>
            <a:blipFill>
              <a:blip r:embed="rId2"/>
              <a:stretch>
                <a:fillRect l="-420" t="0" r="-42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96400" y="4049741"/>
            <a:ext cx="4010025" cy="2191815"/>
            <a:chOff x="0" y="0"/>
            <a:chExt cx="621258" cy="33956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21258" cy="339569"/>
            </a:xfrm>
            <a:custGeom>
              <a:avLst/>
              <a:gdLst/>
              <a:ahLst/>
              <a:cxnLst/>
              <a:rect r="r" b="b" t="t" l="l"/>
              <a:pathLst>
                <a:path h="339569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9569"/>
                  </a:lnTo>
                  <a:lnTo>
                    <a:pt x="0" y="339569"/>
                  </a:lnTo>
                  <a:close/>
                </a:path>
              </a:pathLst>
            </a:custGeom>
            <a:blipFill>
              <a:blip r:embed="rId3"/>
              <a:stretch>
                <a:fillRect l="-376" t="0" r="-376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296400" y="6559904"/>
            <a:ext cx="4010025" cy="2164996"/>
            <a:chOff x="0" y="0"/>
            <a:chExt cx="621258" cy="33541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21258" cy="335415"/>
            </a:xfrm>
            <a:custGeom>
              <a:avLst/>
              <a:gdLst/>
              <a:ahLst/>
              <a:cxnLst/>
              <a:rect r="r" b="b" t="t" l="l"/>
              <a:pathLst>
                <a:path h="335415" w="621258">
                  <a:moveTo>
                    <a:pt x="0" y="0"/>
                  </a:moveTo>
                  <a:lnTo>
                    <a:pt x="621258" y="0"/>
                  </a:lnTo>
                  <a:lnTo>
                    <a:pt x="621258" y="335415"/>
                  </a:lnTo>
                  <a:lnTo>
                    <a:pt x="0" y="335415"/>
                  </a:lnTo>
                  <a:close/>
                </a:path>
              </a:pathLst>
            </a:custGeom>
            <a:blipFill>
              <a:blip r:embed="rId4"/>
              <a:stretch>
                <a:fillRect l="-339" t="0" r="-339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611225" y="1562100"/>
            <a:ext cx="4010025" cy="1619672"/>
            <a:chOff x="0" y="0"/>
            <a:chExt cx="5346700" cy="2159563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194363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教學與行政系統分散，整合度不足。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系統整合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611225" y="4049741"/>
            <a:ext cx="4010025" cy="1618693"/>
            <a:chOff x="0" y="0"/>
            <a:chExt cx="5346700" cy="215825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193057"/>
              <a:ext cx="53467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AI 工具使用尚未制度化，需建立標準規範。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AI 工具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611225" y="6559904"/>
            <a:ext cx="4010025" cy="1257300"/>
            <a:chOff x="0" y="0"/>
            <a:chExt cx="5346700" cy="1676400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193800"/>
              <a:ext cx="53467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資安與資料治理機制待強化。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0"/>
              <a:ext cx="53467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資安機制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0" y="666750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1619250"/>
            <a:chOff x="0" y="0"/>
            <a:chExt cx="9182100" cy="21590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教材設計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導入生成式 AI 協助教材與測驗設計，提升教材多樣性與靈活性。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1619250"/>
            <a:chOff x="0" y="0"/>
            <a:chExt cx="9182100" cy="2159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AI 助教系統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建立校內 AI 助教與問答系統，提供即時學習反饋，促進學習效果。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4DA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AI 工具導入策略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AI 支援教學與行政效率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1619250"/>
            <a:chOff x="0" y="0"/>
            <a:chExt cx="9182100" cy="21590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數位白板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建置數位白板與雲端教材平台，支援多元教學與學習模式。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1619250"/>
            <a:chOff x="0" y="0"/>
            <a:chExt cx="9182100" cy="2159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雲端教材平台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支援遠距與混成學習模式，整合學習管理系統 (LMS)。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4DA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智慧教室建置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提升學習互動與教學品質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1619250"/>
            <a:chOff x="0" y="0"/>
            <a:chExt cx="9182100" cy="21590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身分驗證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強化身分驗證與權限控管，防範未授權存取，確保資料安全。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1619250"/>
            <a:chOff x="0" y="0"/>
            <a:chExt cx="9182100" cy="2159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資料備份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建立資料備份與災害復原機制，推動資安教育與防護演練。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4DA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資訊安全與資料治理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確保數位轉型安全與合規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990600" y="5131506"/>
            <a:ext cx="17819006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666750" y="4912022"/>
            <a:ext cx="438967" cy="43896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4DAF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981575" y="4912022"/>
            <a:ext cx="438967" cy="43896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4DAF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96400" y="4912022"/>
            <a:ext cx="438967" cy="43896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4DAF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612042" y="4912022"/>
            <a:ext cx="438967" cy="43896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4DAF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39700" y="139700"/>
              <a:ext cx="533400" cy="533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1756410"/>
            <a:ext cx="158210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 spc="-192" strike="noStrike" u="none">
                <a:solidFill>
                  <a:srgbClr val="D4DAF0"/>
                </a:solidFill>
                <a:latin typeface="Noto Serif Display ExtraCondensed Light"/>
                <a:ea typeface="Noto Serif Display ExtraCondensed Light"/>
                <a:cs typeface="Noto Serif Display ExtraCondensed Light"/>
                <a:sym typeface="Noto Serif Display ExtraCondensed Light"/>
              </a:rPr>
              <a:t>推動時程與資源規劃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6750" y="3962400"/>
            <a:ext cx="287655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D4DA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需求盤點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750" y="5893506"/>
            <a:ext cx="28765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D4DAF0"/>
                </a:solidFill>
                <a:latin typeface="HK Grotesk"/>
                <a:ea typeface="HK Grotesk"/>
                <a:cs typeface="HK Grotesk"/>
                <a:sym typeface="HK Grotesk"/>
              </a:rPr>
              <a:t>2025 Q1–2Q：需求盤點與試點導入，確認各部門需求。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81575" y="3962400"/>
            <a:ext cx="287655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D4DA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系統整合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981575" y="5893506"/>
            <a:ext cx="28765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D4DAF0"/>
                </a:solidFill>
                <a:latin typeface="HK Grotesk"/>
                <a:ea typeface="HK Grotesk"/>
                <a:cs typeface="HK Grotesk"/>
                <a:sym typeface="HK Grotesk"/>
              </a:rPr>
              <a:t>2025 Q3：系統整合與教師培訓，提升整體教學效能。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96400" y="3962400"/>
            <a:ext cx="287655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D4DA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教師培訓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611225" y="3962400"/>
            <a:ext cx="2876550" cy="32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0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D4DAF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資源配置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96400" y="5893506"/>
            <a:ext cx="28765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D4DAF0"/>
                </a:solidFill>
                <a:latin typeface="HK Grotesk"/>
                <a:ea typeface="HK Grotesk"/>
                <a:cs typeface="HK Grotesk"/>
                <a:sym typeface="HK Grotesk"/>
              </a:rPr>
              <a:t>教師將接受專業培訓，以熟悉新系統和工具的使用。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611225" y="5893506"/>
            <a:ext cx="287655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D4DAF0"/>
                </a:solidFill>
                <a:latin typeface="HK Grotesk"/>
                <a:ea typeface="HK Grotesk"/>
                <a:cs typeface="HK Grotesk"/>
                <a:sym typeface="HK Grotesk"/>
              </a:rPr>
              <a:t>預算、人力與設備資源配置到位，支持數位轉型計畫推行。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6038850"/>
            <a:ext cx="6886575" cy="1619250"/>
            <a:chOff x="0" y="0"/>
            <a:chExt cx="9182100" cy="21590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提升教學品質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提升教學品質與學習成效，為學生提供更個人化的學習體驗。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96400" y="6038850"/>
            <a:ext cx="6886575" cy="1619250"/>
            <a:chOff x="0" y="0"/>
            <a:chExt cx="9182100" cy="215900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強化校務管理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93800"/>
              <a:ext cx="91821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強化校務管理效率與決策能力，建立具競爭力的智慧校園。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6750" y="1562100"/>
            <a:ext cx="16954500" cy="2209800"/>
            <a:chOff x="0" y="0"/>
            <a:chExt cx="22606000" cy="294640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180975"/>
              <a:ext cx="226060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4DA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結論與效益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2387600"/>
              <a:ext cx="22606000" cy="558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799" strike="noStrike" u="none">
                  <a:solidFill>
                    <a:srgbClr val="D4DAF0"/>
                  </a:solidFill>
                  <a:latin typeface="HK Grotesk Semi-Bold"/>
                  <a:ea typeface="HK Grotesk Semi-Bold"/>
                  <a:cs typeface="HK Grotesk Semi-Bold"/>
                  <a:sym typeface="HK Grotesk Semi-Bold"/>
                </a:rPr>
                <a:t>數位轉型帶來的核心價値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0"/>
            <a:ext cx="10429875" cy="10287000"/>
            <a:chOff x="0" y="0"/>
            <a:chExt cx="161586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586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615861">
                  <a:moveTo>
                    <a:pt x="0" y="0"/>
                  </a:moveTo>
                  <a:lnTo>
                    <a:pt x="1615861" y="0"/>
                  </a:lnTo>
                  <a:lnTo>
                    <a:pt x="161586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" t="0" r="-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1562945"/>
            <a:ext cx="5448300" cy="2513755"/>
            <a:chOff x="0" y="0"/>
            <a:chExt cx="7264400" cy="335167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180975"/>
              <a:ext cx="7264400" cy="1769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600"/>
                </a:lnSpc>
              </a:pPr>
              <a:r>
                <a:rPr lang="en-US" sz="9600" spc="-192">
                  <a:solidFill>
                    <a:srgbClr val="D4DAF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聯絡我們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86474"/>
              <a:ext cx="7264400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我們期待您的問題與建議，讓我們一起打造智慧校園。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6750" y="7639050"/>
            <a:ext cx="5448300" cy="1085850"/>
            <a:chOff x="0" y="0"/>
            <a:chExt cx="7264400" cy="144780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 strike="noStrike" u="none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Phone: 123-456-7890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48260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Email: hello@reallygreatsite.com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965200"/>
              <a:ext cx="72644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sz="2400">
                  <a:solidFill>
                    <a:srgbClr val="D4DAF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Website: reallygreatsite.com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0" y="676275"/>
            <a:ext cx="7858125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0" y="9629775"/>
            <a:ext cx="7858125" cy="0"/>
          </a:xfrm>
          <a:prstGeom prst="line">
            <a:avLst/>
          </a:prstGeom>
          <a:ln cap="flat" w="19050">
            <a:solidFill>
              <a:srgbClr val="D4DAF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簡報 - 2025 校園數位轉型計畫</dc:description>
  <dc:identifier>DAHEqoofH00</dc:identifier>
  <dcterms:modified xsi:type="dcterms:W3CDTF">2011-08-01T06:04:30Z</dcterms:modified>
  <cp:revision>1</cp:revision>
  <dc:title>簡報 - 2025 校園數位轉型計畫</dc:title>
</cp:coreProperties>
</file>