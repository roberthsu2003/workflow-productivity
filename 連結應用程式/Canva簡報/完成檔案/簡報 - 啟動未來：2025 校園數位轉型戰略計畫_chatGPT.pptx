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clusive Sans" charset="1" panose="00000000000000000000"/>
      <p:regular r:id="rId16"/>
    </p:embeddedFont>
    <p:embeddedFont>
      <p:font typeface="Lovelace Text" charset="1" panose="00000500000000000000"/>
      <p:regular r:id="rId17"/>
    </p:embeddedFont>
    <p:embeddedFont>
      <p:font typeface="Inclusive Sans Bold" charset="1" panose="00000000000000000000"/>
      <p:regular r:id="rId18"/>
    </p:embeddedFont>
    <p:embeddedFont>
      <p:font typeface="Lovelace Text 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6038850"/>
            <a:chOff x="0" y="0"/>
            <a:chExt cx="1008163" cy="677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163" cy="677092"/>
            </a:xfrm>
            <a:custGeom>
              <a:avLst/>
              <a:gdLst/>
              <a:ahLst/>
              <a:cxnLst/>
              <a:rect r="r" b="b" t="t" l="l"/>
              <a:pathLst>
                <a:path h="677092" w="1008163">
                  <a:moveTo>
                    <a:pt x="0" y="0"/>
                  </a:moveTo>
                  <a:lnTo>
                    <a:pt x="1008163" y="0"/>
                  </a:lnTo>
                  <a:lnTo>
                    <a:pt x="1008163" y="677092"/>
                  </a:lnTo>
                  <a:lnTo>
                    <a:pt x="0" y="677092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038850"/>
            <a:ext cx="7191375" cy="3581400"/>
            <a:chOff x="0" y="0"/>
            <a:chExt cx="1185479" cy="5903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479" cy="590384"/>
            </a:xfrm>
            <a:custGeom>
              <a:avLst/>
              <a:gdLst/>
              <a:ahLst/>
              <a:cxnLst/>
              <a:rect r="r" b="b" t="t" l="l"/>
              <a:pathLst>
                <a:path h="590384" w="1185479">
                  <a:moveTo>
                    <a:pt x="0" y="0"/>
                  </a:moveTo>
                  <a:lnTo>
                    <a:pt x="1185479" y="0"/>
                  </a:lnTo>
                  <a:lnTo>
                    <a:pt x="1185479" y="590384"/>
                  </a:lnTo>
                  <a:lnTo>
                    <a:pt x="0" y="590384"/>
                  </a:lnTo>
                  <a:close/>
                </a:path>
              </a:pathLst>
            </a:custGeom>
            <a:blipFill>
              <a:blip r:embed="rId3"/>
              <a:stretch>
                <a:fillRect l="-177" t="0" r="-17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7381889"/>
            <a:ext cx="7962900" cy="895323"/>
            <a:chOff x="0" y="0"/>
            <a:chExt cx="10617200" cy="11937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06172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以 AI 與數據驅動教育新生態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99946"/>
              <a:ext cx="106172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報告單位：數位轉型專案小組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838200"/>
            <a:ext cx="8324850" cy="360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03"/>
              </a:lnSpc>
            </a:pPr>
            <a:r>
              <a:rPr lang="en-US" sz="9303">
                <a:solidFill>
                  <a:srgbClr val="FFFFFF"/>
                </a:solidFill>
                <a:latin typeface="Lovelace Text"/>
                <a:ea typeface="Lovelace Text"/>
                <a:cs typeface="Lovelace Text"/>
                <a:sym typeface="Lovelace Text"/>
              </a:rPr>
              <a:t>啟動未來：2025 校園數位轉型戰略計畫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B2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Lovelace Text"/>
                <a:ea typeface="Lovelace Text"/>
                <a:cs typeface="Lovelace Text"/>
                <a:sym typeface="Lovelace Text"/>
              </a:rPr>
              <a:t>校園數位轉型現況分析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733928"/>
            <a:ext cx="5448300" cy="1886322"/>
            <a:chOff x="0" y="0"/>
            <a:chExt cx="7264400" cy="25150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798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This slide will provide an analysis of the 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current state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of digital transformation on campus.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現有基礎設施效能瓶頸評估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400121"/>
            <a:chOff x="0" y="0"/>
            <a:chExt cx="9182100" cy="18668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部署專屬 AI 教學輔助系統以提升師生的學習和教學效果，促進互動與參與。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AI 教學輔助系統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401471"/>
            <a:chOff x="0" y="0"/>
            <a:chExt cx="9182100" cy="186862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41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導入 RPA 技術自動化行政流程，提升效率和減少人為錯誤，節省寶貴資源。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行政流程自動化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1401445"/>
            <a:chOff x="0" y="0"/>
            <a:chExt cx="9182100" cy="18685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提供全校師生 AI 素養與實務培訓，建立未來教育的數字化基礎，增強競爭力。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AI 素養培訓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20B2AA"/>
                </a:solidFill>
                <a:latin typeface="Lovelace Text"/>
                <a:ea typeface="Lovelace Text"/>
                <a:cs typeface="Lovelace Text"/>
                <a:sym typeface="Lovelace Text"/>
              </a:rPr>
              <a:t>生成式 AI 工具導入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B2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Lovelace Text"/>
                <a:ea typeface="Lovelace Text"/>
                <a:cs typeface="Lovelace Text"/>
                <a:sym typeface="Lovelace Text"/>
              </a:rPr>
              <a:t>智慧教室升級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667253"/>
            <a:ext cx="5448300" cy="1952997"/>
            <a:chOff x="0" y="0"/>
            <a:chExt cx="7264400" cy="26039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8947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這些升級將強化學習體驗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，並促進更智能的教學方法。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硬體升級以提升教學環境自動化管理效能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400121"/>
            <a:chOff x="0" y="0"/>
            <a:chExt cx="9182100" cy="18668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建立校園網路 Zero Trust 架構，以增強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安全性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和防範未經授權存取。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Zero Trust 架構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401471"/>
            <a:chOff x="0" y="0"/>
            <a:chExt cx="9182100" cy="186862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41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強化師生個資保護與加密傳輸協議，確保敏感信息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安全無虞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。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個資保護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1401445"/>
            <a:chOff x="0" y="0"/>
            <a:chExt cx="9182100" cy="18685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建置 24/7 自動化資安威脅監控中心，及時響應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潛在威脅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和事件。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監控中心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20B2AA"/>
                </a:solidFill>
                <a:latin typeface="Lovelace Text"/>
                <a:ea typeface="Lovelace Text"/>
                <a:cs typeface="Lovelace Text"/>
                <a:sym typeface="Lovelace Text"/>
              </a:rPr>
              <a:t>資安防護與隱私升級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22606000" cy="11938000"/>
          </a:xfrm>
        </p:grpSpPr>
        <p:sp>
          <p:nvSpPr>
            <p:cNvPr name="AutoShape 3" id="3"/>
            <p:cNvSpPr/>
            <p:nvPr/>
          </p:nvSpPr>
          <p:spPr>
            <a:xfrm flipV="true">
              <a:off x="11303000" y="0"/>
              <a:ext cx="0" cy="11938000"/>
            </a:xfrm>
            <a:prstGeom prst="line">
              <a:avLst/>
            </a:prstGeom>
            <a:ln cap="rnd" w="265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5969000"/>
              <a:ext cx="22606000" cy="0"/>
            </a:xfrm>
            <a:prstGeom prst="line">
              <a:avLst/>
            </a:prstGeom>
            <a:ln cap="rnd" w="265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5753100" cy="993025"/>
            <a:chOff x="0" y="0"/>
            <a:chExt cx="7670800" cy="13240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00FFD0"/>
                  </a:solidFill>
                  <a:latin typeface="Lovelace Text Bold"/>
                  <a:ea typeface="Lovelace Text Bold"/>
                  <a:cs typeface="Lovelace Text Bold"/>
                  <a:sym typeface="Lovelace Text Bold"/>
                </a:rPr>
                <a:t>第一階段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93808"/>
              <a:ext cx="76708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 spc="-52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強化基礎設施並部署 AI 教學平台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34675" y="1562100"/>
            <a:ext cx="5448300" cy="993025"/>
            <a:chOff x="0" y="0"/>
            <a:chExt cx="7264400" cy="13240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7264400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00FFD0"/>
                  </a:solidFill>
                  <a:latin typeface="Lovelace Text Bold"/>
                  <a:ea typeface="Lovelace Text Bold"/>
                  <a:cs typeface="Lovelace Text Bold"/>
                  <a:sym typeface="Lovelace Text Bold"/>
                </a:rPr>
                <a:t>第二階段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93808"/>
              <a:ext cx="72644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 spc="-52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全面推廣並創新跨系所應用方案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00225" y="6038850"/>
            <a:ext cx="5753100" cy="993025"/>
            <a:chOff x="0" y="0"/>
            <a:chExt cx="7670800" cy="13240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7670800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00FFD0"/>
                  </a:solidFill>
                  <a:latin typeface="Lovelace Text Bold"/>
                  <a:ea typeface="Lovelace Text Bold"/>
                  <a:cs typeface="Lovelace Text Bold"/>
                  <a:sym typeface="Lovelace Text Bold"/>
                </a:rPr>
                <a:t>第三階段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93808"/>
              <a:ext cx="76708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 spc="-52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進行成效評估與系統持續優化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34675" y="6038850"/>
            <a:ext cx="5448300" cy="993025"/>
            <a:chOff x="0" y="0"/>
            <a:chExt cx="7264400" cy="132403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7264400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00FFD0"/>
                  </a:solidFill>
                  <a:latin typeface="Lovelace Text Bold"/>
                  <a:ea typeface="Lovelace Text Bold"/>
                  <a:cs typeface="Lovelace Text Bold"/>
                  <a:sym typeface="Lovelace Text Bold"/>
                </a:rPr>
                <a:t>第四階段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93808"/>
              <a:ext cx="7264400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600" spc="-52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定期回顧及更新轉型策略與流程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B2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Lovelace Text"/>
                <a:ea typeface="Lovelace Text"/>
                <a:cs typeface="Lovelace Text"/>
                <a:sym typeface="Lovelace Text"/>
              </a:rPr>
              <a:t>資源需求與預期效益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667253"/>
            <a:ext cx="5448300" cy="1952997"/>
            <a:chOff x="0" y="0"/>
            <a:chExt cx="7264400" cy="26039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8947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本頁將分析年度預算編列及技術夥伴合作的必要性。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概述數位轉型的資源需求與預期效益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400121"/>
            <a:chOff x="0" y="0"/>
            <a:chExt cx="9182100" cy="18668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制定清晰的年度預算，以確保技術夥伴能有效支持轉型計畫的執行。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年度預算編列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401471"/>
            <a:chOff x="0" y="0"/>
            <a:chExt cx="9182100" cy="186862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41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整合各部門資源，確保人力與技術能夠協同合作，推動數位轉型成功。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跨部門資源整合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1401445"/>
            <a:chOff x="0" y="0"/>
            <a:chExt cx="9182100" cy="18685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透過數位化工具和流程優化，提升行政效率，增進學生的學習成效指標。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提升行政效率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00FFD0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20B2AA"/>
                </a:solidFill>
                <a:latin typeface="Lovelace Text"/>
                <a:ea typeface="Lovelace Text"/>
                <a:cs typeface="Lovelace Text"/>
                <a:sym typeface="Lovelace Text"/>
              </a:rPr>
              <a:t>資源需求與預期效益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B2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Lovelace Text"/>
                <a:ea typeface="Lovelace Text"/>
                <a:cs typeface="Lovelace Text"/>
                <a:sym typeface="Lovelace Text"/>
              </a:rPr>
              <a:t>總結與 Q&amp;A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8057778"/>
            <a:ext cx="5448300" cy="1562472"/>
            <a:chOff x="0" y="0"/>
            <a:chExt cx="7264400" cy="20832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89478"/>
              <a:ext cx="72644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本頁將回顧我們的核心願景並開放提問。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建立科技領航校園之核心願景，回顧關鍵行動方案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060273" cy="1140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273" cy="1140339"/>
            </a:xfrm>
            <a:custGeom>
              <a:avLst/>
              <a:gdLst/>
              <a:ahLst/>
              <a:cxnLst/>
              <a:rect r="r" b="b" t="t" l="l"/>
              <a:pathLst>
                <a:path h="1140339" w="1060273">
                  <a:moveTo>
                    <a:pt x="0" y="0"/>
                  </a:moveTo>
                  <a:lnTo>
                    <a:pt x="1060273" y="0"/>
                  </a:lnTo>
                  <a:lnTo>
                    <a:pt x="1060273" y="1140339"/>
                  </a:lnTo>
                  <a:lnTo>
                    <a:pt x="0" y="1140339"/>
                  </a:ln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038809"/>
            <a:ext cx="6886575" cy="3581441"/>
            <a:chOff x="0" y="0"/>
            <a:chExt cx="9182100" cy="47752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Email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45702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hello@reallygreatsite.com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07589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Social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00916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@reallygreatsite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62802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Phone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56129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00FFD0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123-456-7890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34675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20B2AA"/>
                </a:solidFill>
                <a:latin typeface="Lovelace Text"/>
                <a:ea typeface="Lovelace Text"/>
                <a:cs typeface="Lovelace Text"/>
                <a:sym typeface="Lovelace Text"/>
              </a:rPr>
              <a:t>Let's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啟動未來：2025 校園數位轉型戰略計畫</dc:description>
  <dc:identifier>DAHEwPt88KE</dc:identifier>
  <dcterms:modified xsi:type="dcterms:W3CDTF">2011-08-01T06:04:30Z</dcterms:modified>
  <cp:revision>1</cp:revision>
  <dc:title>簡報 - 啟動未來：2025 校園數位轉型戰略計畫</dc:title>
</cp:coreProperties>
</file>